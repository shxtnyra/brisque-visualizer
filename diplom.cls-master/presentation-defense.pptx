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день. Тема моей работы — инструмент для визуализации алгоритмов оценки качества изображений. Доклад займёт около семи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Многие метрики оценки качества изображений устроены как последовательность осмысленных этапов — в зависимости от алгоритма это сравнение структурных компонентов, локальная нормализация со сбором статистики или анализ активаций нейросети. Однако распространённые реализации в OpenCV или MATLAB возвращают лишь итоговое число: промежуточные карты, внутренние признаки и другие расчётные данные остаются недоступными. Из-за этого трудно понять, какие именно факторы повлияли на оценку. Цель работы — desktop-приложение для визуализации и исследовательского изучения алгоритмов IQA: пользователь загружает снимок, выделяет область интереса и получает поэтапное представление расчёта. Архитектура модульная, метрики подключаются как модули. BRISQUE — первый демонстрационный модуль, пример, а не цель работы. Задачи — от обзора IQA и выбора BRISQUE до реализации ядра, интерфейса и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Несколько слов о предметной области. Задача IQA — численно оценить качество изображения так, чтобы оценка согласовывалась с субъективным восприятием человека, то есть со средними экспертными баллами MOS. По наличию эталона методы делятся на три класса. Full-Reference требует исходное неискажённое изображение и применяется для сравнения кодеков. Reduced-Reference использует лишь часть признаков оригинала. No-Reference вообще не требует эталона — именно этот класс нужен в реальных задачах: видеонаблюдение, обработка архивов, работа в реальном времени, где оригинала нет. Поэтому в работе рассматривается NR-подход, а в качестве примера — BRISQUE, основанный на статистике естественных сцен.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Стек подобран под интерактивный сценарий. TypeScript снижает ошибки при передаче массивов между worker и интерфейсом. Electron даёт работу с локальными файлами. Тяжёлые свёртки и извлечение признаков вынесены в Web Worker — интерфейс остаётся отзывчивым при перетаскивании ROI. Визуализация — на Canvas и в DOM, без тяжёлых графических библиотек.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Интерфейс начинается с разметки index.html: workspace для снимка, сайдбар, canvas превью, блок оценки. Важно — вкладки «Карты», «Графики», «Признаки» в HTML не прописаны, только пустые контейнеры. Точка входа renderer.ts находит все нужные элементы через requireElement и передаёт их в AppController. Если критичный узел отсутствует, приложение падает сразу — так проще отлавливать ошибки разметки. AppController — центральный координатор всего сценария работы пользователя.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конструкторе AppController создаются сервисы отображения. ViewportManager отвечает за масштаб и прокрутку workspace. SelectionManager — за интерактивную рамку ROI. Когда пользователь меняет выделение, фрагмент копируется на preview-canvas, и AppController ставит задачу анализа. ScorePresenter показывает итоговый score. TabHost управляет вкладками — до первого анализа они скрыты. FullscreenView и CanvasContextMenu — общие для любого метода. AppController не знает деталей BRISQUE — он только оркестрирует UI и обмен с worker.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Чтобы BRISQUE не «прирос» к интерфейсу, введена модульная оболочка в каталоге shell. Вычислительная часть реализует QualityMethod: создаёт worker и превращает ответ в AnalysisResult. Визуальная — MethodUiPlugin: монтирует вкладки и подключает fullscreen. MethodRegistry хранит зарегистрированные методы. При смене алгоритма MethodSwitcher вызывает dispose у старого плагина, очищает вкладки и поднимает новый worker. Оболочка всегда работает с одним форматом результата — score и произвольный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 схема показывает, что куда и откуда передаётся; пунктиром выделена граница потоков. Сверху — главный поток renderer. Когда пользователь меняет выделение, SelectionManager отдаёт прямоугольник ROI, AppController рисует фрагмент на previewCanvas, считывает пиксели через getImageData и отправляет их в воркер вызовом postMessage. Массив RGBA передаётся как Transferable — без копирования; для защиты от перегрузки используется requestId. В середине — Web Worker, отдельный поток: тонкий адаптер brisque.worker запускает BrisquePipeline.execute, который считает яркость по BT.601, карты MSCN и попарные произведения на двух масштабах, извлекает 36 признаков через GGD и AGGD и прогоняет их через SVR, получая итоговую оценку DMOS. Результат — объект BrisqueWorkerSuccess с картами, признаками и score — возвращается обратно, тоже как Transferable. Снова в главном потоке BrisqueQualityMethod.parseWorkerMessage превращает его в единый AnalysisResult со score и payload. Дальше ScorePresenter показывает оценку в шапке, а TabHost.dispatchResult раздаёт payload в панели «Карты», «Графики» и «Признаки».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BRISQUE работает в пространственной области. Сначала RGB переводится в яркость, затем локальная нормализация MSCN выделяет текстуру независимо от освещения. Попарные произведения соседних коэффициентов фиксируют пространственные связи. Для MSCN подбирается GGD, для pairwise — AGGD. На двух масштабах формируется 36 признаков, и SVR выдаёт итоговую оценку, обученную на субъективных данных LIVE. Каждый этап отображается в интерфейсе: карты на Canvas, распределения на графиках, числа — в таблице признаков.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Поскольку работа математической направленности, кратко о модели. Карта MSCN — это нормализация локального контраста: из яркости вычитается локальное среднее mu и результат делится на локальное СКО sigma плюс константа. Для естественных снимков гистограмма MSCN близка к гауссовой, а искажения её меняют. Эту форму описывает обобщённое гауссово распределение GGD с параметром формы alpha и дисперсией. Попарные произведения соседних коэффициентов асимметричны, поэтому для них применяется асимметричное распределение AGGD с четырьмя параметрами на каждое из направлений. Итого 18 признаков на масштаб, на двух масштабах — 36, которые подаются в SVR.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Покажу инструмент в действии на трёх вкладках. Слева — карта коэффициентов MSCN для выделенного фрагмента: видно текстуру независимо от освещения. В центре — гистограмма значений MSCN с наложенной подогнанной кривой GGD; по ней наглядна форма распределения. Справа — таблица всех 36 числовых признаков, попадающих в регрессор. Любую карту можно открыть на весь экран и сохранить в 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Корректность ядра проверена на серии из 25 изображений I01–I25: каждый полный кадр анализировался в приложении и в эталонной реализации BRISQUE на MATLAB по идентичным пикселям. На диаграмме слева видно абсолютное расхождение score по каждому снимку: все значения укладываются в небольшой коридор, среднее отклонение — 2.51 балла, максимум 4.42 (I17), минимум 0.85 (I20). Справа — ключевые цифры и два характерных ROI: на качественном фрагменте оценка около девяти, на искажённом — около девяноста; ранжирование полностью совпадает с визуальным качеством. Остаточные расхождения объясняются отличиями бикубического масштабирования, граничной обработки и арифметики с плавающей точкой (float32).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результате разработано desktop-приложение, которое позволяет интерактивно исследовать безэталонную метрику на выбранном фрагменте изображения. Реализованы вычислительное ядро, модульный интерфейс и проверка на тестовых данных. Заложенная архитектура допускает подключение других метрик без переработки оболочки.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Ключевые источники: оригинальная статья BRISQUE (Mittal и др., 2012), база LIVE для обучения регрессора, работы по статистике естественных изображений (Ruderman, Srivastava), методы оценки параметров GGD (Sharifi), LIBSVM для SVR, а также техническая документация Electron, Web Workers, Canvas и TypeScript.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AEC8E0"/>
                </a:solidFill>
                <a:latin typeface="Calibri"/>
              </a:rPr>
              <a:t>Ярославский государственный университет им. П. Г. Демидова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8FABC9"/>
                </a:solidFill>
                <a:latin typeface="Calibri"/>
              </a:rPr>
              <a:t>Факультет ИВТ  ·  Выпускная квалификационная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>
                <a:solidFill>
                  <a:srgbClr val="FFFFFF"/>
                </a:solidFill>
                <a:latin typeface="Calibri"/>
              </a:rPr>
              <a:t>Разработка инструмента для визуализации
и прототипирования алгоритмов
оценки качества изображений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617720"/>
            <a:ext cx="2377440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 b="0" i="0">
                <a:solidFill>
                  <a:srgbClr val="FFFFFF"/>
                </a:solidFill>
                <a:latin typeface="Calibri"/>
              </a:rPr>
              <a:t>Студент:  А. С. Кунашев, группа ИВТ-41БО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 b="0" i="0">
                <a:solidFill>
                  <a:srgbClr val="CFDDEC"/>
                </a:solidFill>
                <a:latin typeface="Calibri"/>
              </a:rPr>
              <a:t>Научный руководитель:  ст. преп. А. Г. Седов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8FABC9"/>
                </a:solidFill>
                <a:latin typeface="Calibri"/>
              </a:rPr>
              <a:t>Ярославль,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AEC8E0"/>
                </a:solidFill>
                <a:latin typeface="Calibri"/>
              </a:rPr>
              <a:t>ПРОБЛЕМА, ЦЕЛЬ И ЗАДАЧИ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Calibri"/>
              </a:rPr>
              <a:t>Зачем нужен инструмент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440680" cy="3154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91440" cy="3154680"/>
          </a:xfrm>
          <a:prstGeom prst="rect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5029200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00" b="1" i="0">
                <a:solidFill>
                  <a:srgbClr val="5A6672"/>
                </a:solidFill>
                <a:latin typeface="Calibri"/>
              </a:rPr>
              <a:t>ПРОБЛЕМА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—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Метрики IQA — цепочка этапов (SSIM, BRISQUE, нейросети…)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—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Реализации в OpenCV / MATLAB возвращают лишь итоговое число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—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Промежуточные карты, признаки и расчётные данные скрыты — алгоритм трудно понять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440680" cy="3154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91440" cy="31546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81328"/>
            <a:ext cx="5029200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ЦЕЛЬ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—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Desktop-приложение для визуализации и изучения алгоритмов IQA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—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Снимок → ROI → поэтапный расчёт (состав — по выбранной метрике)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—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Модульная архитектура — метрики подключаются как модули</a:t>
            </a:r>
          </a:p>
          <a:p>
            <a:pPr lvl="1" algn="l" marL="292608" indent="-29260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—"/>
            </a:pPr>
            <a:r>
              <a:rPr sz="1300" b="0" i="0">
                <a:solidFill>
                  <a:srgbClr val="CFDDEC"/>
                </a:solidFill>
                <a:latin typeface="Calibri"/>
              </a:rPr>
              <a:t>BRISQUE — первый демонстрационный модуль (пример, а не цель работы)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54880"/>
            <a:ext cx="11155680" cy="13716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754880"/>
            <a:ext cx="91440" cy="13716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64608"/>
            <a:ext cx="107899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1E3A5F"/>
                </a:solidFill>
                <a:latin typeface="Calibri"/>
              </a:rPr>
              <a:t>ЗАДАЧИ РАБОТЫ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22A33"/>
                </a:solidFill>
                <a:latin typeface="Calibri"/>
              </a:rPr>
              <a:t>Обзор IQA  →  BRISQUE и этапы визуализации  →  стек и архитектура  →  ядро в Web Worker  →  UI-визуализация  →  проверка на тестах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A6672"/>
                </a:solidFill>
                <a:latin typeface="Calibri"/>
              </a:rPr>
              <a:t>Кунашев А. С.  ·  ИВТ-41БО  ·  Визуализация алгоритмов оценки качества изображений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AEC8E0"/>
                </a:solidFill>
                <a:latin typeface="Calibri"/>
              </a:rPr>
              <a:t>ТЕОРИЯ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Calibri"/>
              </a:rPr>
              <a:t>Оценка качества изображений (IQA)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A6672"/>
                </a:solidFill>
                <a:latin typeface="Calibri"/>
              </a:rPr>
              <a:t>IQA — численная оценка качества, согласованная с восприятием человека (MOS). По наличию эталона методы делят на три класса: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38328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74519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</a:rPr>
              <a:t>Подход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874519"/>
            <a:ext cx="30175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2" y="1874519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</a:rPr>
              <a:t>Эталон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874519"/>
            <a:ext cx="475488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1874519"/>
            <a:ext cx="4480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</a:rPr>
              <a:t>Область применения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77439"/>
            <a:ext cx="33832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377439"/>
            <a:ext cx="309067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22A33"/>
                </a:solidFill>
                <a:latin typeface="Calibri"/>
              </a:rPr>
              <a:t>Full-Reference (FR)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2377439"/>
            <a:ext cx="30175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50792" y="2377439"/>
            <a:ext cx="272491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нужен оригинал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377439"/>
            <a:ext cx="47548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2377439"/>
            <a:ext cx="446227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сравнение кодеков, эталонные тесты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19"/>
            <a:ext cx="338328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246119"/>
            <a:ext cx="309067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22A33"/>
                </a:solidFill>
                <a:latin typeface="Calibri"/>
              </a:rPr>
              <a:t>Reduced-Reference (RR)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3246119"/>
            <a:ext cx="301752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0792" y="3246119"/>
            <a:ext cx="272491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часть признаков оригинала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3246119"/>
            <a:ext cx="475488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68312" y="3246119"/>
            <a:ext cx="446227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передача по ограниченному каналу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14799"/>
            <a:ext cx="3383280" cy="86868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4114799"/>
            <a:ext cx="309067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E86C1"/>
                </a:solidFill>
                <a:latin typeface="Calibri"/>
              </a:rPr>
              <a:t>No-Reference (NR)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114799"/>
            <a:ext cx="3017520" cy="86868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50792" y="4114799"/>
            <a:ext cx="272491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эталон не нужен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4114799"/>
            <a:ext cx="4754880" cy="86868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8312" y="4114799"/>
            <a:ext cx="446227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видеонаблюдение, архивы, реальное время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20639"/>
            <a:ext cx="11155680" cy="6583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120639"/>
            <a:ext cx="91440" cy="65836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120639"/>
            <a:ext cx="1060704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</a:rPr>
              <a:t>NR-метрики работают без оригинала → подходят для реальных задач. BRISQUE использует статистику естественных сцен (NSS) в пространственной области.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A6672"/>
                </a:solidFill>
                <a:latin typeface="Calibri"/>
              </a:rPr>
              <a:t>Кунашев А. С.  ·  ИВТ-41БО  ·  Визуализация алгоритмов оценки качества изображений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AEC8E0"/>
                </a:solidFill>
                <a:latin typeface="Calibri"/>
              </a:rPr>
              <a:t>ИНСТРУМЕНТЫ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Calibri"/>
              </a:rPr>
              <a:t>Технологический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55680" cy="8412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971800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74320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63040"/>
            <a:ext cx="768096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22A33"/>
                </a:solidFill>
                <a:latin typeface="Calibri"/>
              </a:rPr>
              <a:t>строгая типизация данных пайплайна между worker и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14016"/>
            <a:ext cx="11155680" cy="8412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14016"/>
            <a:ext cx="2971800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14016"/>
            <a:ext cx="274320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Electron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14016"/>
            <a:ext cx="768096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22A33"/>
                </a:solidFill>
                <a:latin typeface="Calibri"/>
              </a:rPr>
              <a:t>локальный desktop-доступ к файлам без сервера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64992"/>
            <a:ext cx="11155680" cy="8412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64992"/>
            <a:ext cx="2971800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64992"/>
            <a:ext cx="274320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Web 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364992"/>
            <a:ext cx="768096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22A33"/>
                </a:solidFill>
                <a:latin typeface="Calibri"/>
              </a:rPr>
              <a:t>тяжёлые свёртки и признаки — без блокировки интерфейса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15968"/>
            <a:ext cx="11155680" cy="8412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15968"/>
            <a:ext cx="2971800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15968"/>
            <a:ext cx="274320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HTML Canvas + 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315968"/>
            <a:ext cx="768096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22A33"/>
                </a:solidFill>
                <a:latin typeface="Calibri"/>
              </a:rPr>
              <a:t>карты, гистограммы и таблицы без тяжёлых библиотек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66944"/>
            <a:ext cx="11155680" cy="8412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266944"/>
            <a:ext cx="2971800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66944"/>
            <a:ext cx="274320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electron-vite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266944"/>
            <a:ext cx="768096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22A33"/>
                </a:solidFill>
                <a:latin typeface="Calibri"/>
              </a:rPr>
              <a:t>сборка renderer и worker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A6672"/>
                </a:solidFill>
                <a:latin typeface="Calibri"/>
              </a:rPr>
              <a:t>Кунашев А. С.  ·  ИВТ-41БО  ·  Визуализация алгоритмов оценки качества изображений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AEC8E0"/>
                </a:solidFill>
                <a:latin typeface="Calibri"/>
              </a:rPr>
              <a:t>ТОЧКА ВХОДА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Calibri"/>
              </a:rPr>
              <a:t>Разметка и запуск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66344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—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index.html — статичная оболочка окна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—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Пустые контейнеры #qa-tabs-nav, #qa-tabs-container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—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renderer.ts — точка входа, requireElement (fail-fast)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—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Сборка ShellElements → new AppController(els)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—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Вкладки метода не зашиты в HTML</a:t>
            </a:r>
          </a:p>
        </p:txBody>
      </p:sp>
      <p:sp>
        <p:nvSpPr>
          <p:cNvPr id="7" name="Rectangle 6"/>
          <p:cNvSpPr/>
          <p:nvPr/>
        </p:nvSpPr>
        <p:spPr>
          <a:xfrm>
            <a:off x="5385816" y="1728216"/>
            <a:ext cx="6373368" cy="426435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783080"/>
            <a:ext cx="6263640" cy="41546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A6672"/>
                </a:solidFill>
                <a:latin typeface="Calibri"/>
              </a:rPr>
              <a:t>Кунашев А. С.  ·  ИВТ-41БО  ·  Визуализация алгоритмов оценки качества изображений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AEC8E0"/>
                </a:solidFill>
                <a:latin typeface="Calibri"/>
              </a:rPr>
              <a:t>КООРДИНАЦИЯ ИНТЕРФЕЙСА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Calibri"/>
              </a:rPr>
              <a:t>Классы UI в AppController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749039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51959" y="1371600"/>
            <a:ext cx="7406640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347471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Класс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39" y="1371600"/>
            <a:ext cx="71323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Роль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37490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938528"/>
            <a:ext cx="7406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38528"/>
            <a:ext cx="347471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E3A5F"/>
                </a:solidFill>
                <a:latin typeface="Consolas"/>
              </a:rPr>
              <a:t>ViewportManager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1938528"/>
            <a:ext cx="71323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22A33"/>
                </a:solidFill>
                <a:latin typeface="Calibri"/>
              </a:rPr>
              <a:t>zoom, scroll, загрузка снимка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05456"/>
            <a:ext cx="3749039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2505456"/>
            <a:ext cx="74066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05456"/>
            <a:ext cx="347471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E3A5F"/>
                </a:solidFill>
                <a:latin typeface="Consolas"/>
              </a:rPr>
              <a:t>SelectionManager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2505456"/>
            <a:ext cx="71323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22A33"/>
                </a:solidFill>
                <a:latin typeface="Calibri"/>
              </a:rPr>
              <a:t>рисование и изменение ROI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72384"/>
            <a:ext cx="37490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3072384"/>
            <a:ext cx="7406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72384"/>
            <a:ext cx="347471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E3A5F"/>
                </a:solidFill>
                <a:latin typeface="Consolas"/>
              </a:rPr>
              <a:t>ScorePresenter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39" y="3072384"/>
            <a:ext cx="71323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22A33"/>
                </a:solidFill>
                <a:latin typeface="Calibri"/>
              </a:rPr>
              <a:t>итоговая оценка в шапке сайдбара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639312"/>
            <a:ext cx="3749039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639312"/>
            <a:ext cx="74066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639312"/>
            <a:ext cx="347471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E3A5F"/>
                </a:solidFill>
                <a:latin typeface="Consolas"/>
              </a:rPr>
              <a:t>TabHost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9" y="3639312"/>
            <a:ext cx="71323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22A33"/>
                </a:solidFill>
                <a:latin typeface="Calibri"/>
              </a:rPr>
              <a:t>динамические вкладки сайдбара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06240"/>
            <a:ext cx="37490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4206240"/>
            <a:ext cx="7406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06240"/>
            <a:ext cx="347471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E3A5F"/>
                </a:solidFill>
                <a:latin typeface="Consolas"/>
              </a:rPr>
              <a:t>FullscreenView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39" y="4206240"/>
            <a:ext cx="71323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22A33"/>
                </a:solidFill>
                <a:latin typeface="Calibri"/>
              </a:rPr>
              <a:t>увеличенный просмотр карт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773168"/>
            <a:ext cx="3749039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59" y="4773168"/>
            <a:ext cx="74066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773168"/>
            <a:ext cx="347471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E3A5F"/>
                </a:solidFill>
                <a:latin typeface="Consolas"/>
              </a:rPr>
              <a:t>CanvasContextMenu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39" y="4773168"/>
            <a:ext cx="71323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22A33"/>
                </a:solidFill>
                <a:latin typeface="Calibri"/>
              </a:rPr>
              <a:t>экспорт canvas в PNG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340096"/>
            <a:ext cx="37490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59" y="5340096"/>
            <a:ext cx="7406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340096"/>
            <a:ext cx="347471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E3A5F"/>
                </a:solidFill>
                <a:latin typeface="Consolas"/>
              </a:rPr>
              <a:t>HelpPanel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39" y="5340096"/>
            <a:ext cx="71323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22A33"/>
                </a:solidFill>
                <a:latin typeface="Calibri"/>
              </a:rPr>
              <a:t>академическая справка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016752"/>
            <a:ext cx="11155679" cy="566928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016752"/>
            <a:ext cx="106984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E3A5F"/>
                </a:solidFill>
                <a:latin typeface="Calibri"/>
              </a:rPr>
              <a:t>Изменение ROI → превью на previewCanvas → запрос в worker. AppController оркестрирует UI, не зная деталей BRISQUE.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A6672"/>
                </a:solidFill>
                <a:latin typeface="Calibri"/>
              </a:rPr>
              <a:t>Кунашев А. С.  ·  ИВТ-41БО  ·  Визуализация алгоритмов оценки качества изображений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AEC8E0"/>
                </a:solidFill>
                <a:latin typeface="Calibri"/>
              </a:rPr>
              <a:t>АРХИТЕКТУРА (1/2)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Calibri"/>
              </a:rPr>
              <a:t>Модульная оболочка и контракты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7315200" cy="7498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7498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28346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E3A5F"/>
                </a:solidFill>
                <a:latin typeface="Consolas"/>
              </a:rPr>
              <a:t>QualityMethod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417320"/>
            <a:ext cx="402336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создаёт worker и разбирает ответ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7315200" cy="7498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67712"/>
            <a:ext cx="73152" cy="7498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28346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E3A5F"/>
                </a:solidFill>
                <a:latin typeface="Consolas"/>
              </a:rPr>
              <a:t>MethodUiPlugin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267712"/>
            <a:ext cx="402336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вкладки сайдбара, fullscreen, export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18104"/>
            <a:ext cx="7315200" cy="7498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18104"/>
            <a:ext cx="73152" cy="7498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18104"/>
            <a:ext cx="28346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E3A5F"/>
                </a:solidFill>
                <a:latin typeface="Consolas"/>
              </a:rPr>
              <a:t>MethodRegistry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118104"/>
            <a:ext cx="402336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реестр методов (BRISQUE, placeholder)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68496"/>
            <a:ext cx="7315200" cy="7498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68496"/>
            <a:ext cx="73152" cy="7498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68496"/>
            <a:ext cx="28346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E3A5F"/>
                </a:solidFill>
                <a:latin typeface="Consolas"/>
              </a:rPr>
              <a:t>MethodSwitcher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968496"/>
            <a:ext cx="402336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смена метода: dispose() и новый worker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18888"/>
            <a:ext cx="7315200" cy="7498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818888"/>
            <a:ext cx="73152" cy="7498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18888"/>
            <a:ext cx="28346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E3A5F"/>
                </a:solidFill>
                <a:latin typeface="Consolas"/>
              </a:rPr>
              <a:t>AnalysisResult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818888"/>
            <a:ext cx="402336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единый формат: score + payload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1417320"/>
            <a:ext cx="3566160" cy="4160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691640"/>
            <a:ext cx="306324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ЗАДЕЛ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900" b="1" i="0">
                <a:solidFill>
                  <a:srgbClr val="FFFFFF"/>
                </a:solidFill>
                <a:latin typeface="Calibri"/>
              </a:rPr>
              <a:t>Новая метрика =
новая пара
method + plugin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500" b="0" i="0">
                <a:solidFill>
                  <a:srgbClr val="CFDDEC"/>
                </a:solidFill>
                <a:latin typeface="Calibri"/>
              </a:rPr>
              <a:t>index.html менять не нужно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CFDDEC"/>
                </a:solidFill>
                <a:latin typeface="Calibri"/>
              </a:rPr>
              <a:t>Уже подключены:
BRISQUE и placeholder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A6672"/>
                </a:solidFill>
                <a:latin typeface="Calibri"/>
              </a:rPr>
              <a:t>Кунашев А. С.  ·  ИВТ-41БО  ·  Визуализация алгоритмов оценки качества изображений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AEC8E0"/>
                </a:solidFill>
                <a:latin typeface="Calibri"/>
              </a:rPr>
              <a:t>АРХИТЕКТУРА (2/2)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Calibri"/>
              </a:rPr>
              <a:t>Схема потока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1188720"/>
            <a:ext cx="9902952" cy="1024128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4168" y="1234440"/>
            <a:ext cx="9500616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3A5F"/>
                </a:solidFill>
                <a:latin typeface="Calibri"/>
              </a:rPr>
              <a:t>ГЛАВНЫЙ ПОТОК · renderer (AppController)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554480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554480"/>
            <a:ext cx="28346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3A5F"/>
                </a:solidFill>
                <a:latin typeface="Consolas"/>
              </a:rPr>
              <a:t>SelectionManager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E3A5F"/>
                </a:solidFill>
                <a:latin typeface="Calibri"/>
              </a:rPr>
              <a:t>выделение ROI (crop)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554480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54480"/>
            <a:ext cx="28346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3A5F"/>
                </a:solidFill>
                <a:latin typeface="Consolas"/>
              </a:rPr>
              <a:t>previewCanvas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E3A5F"/>
                </a:solidFill>
                <a:latin typeface="Calibri"/>
              </a:rPr>
              <a:t>getImageData → RGBA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54480"/>
            <a:ext cx="28346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3A5F"/>
                </a:solidFill>
                <a:latin typeface="Consolas"/>
              </a:rPr>
              <a:t>postMessage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E3A5F"/>
                </a:solidFill>
                <a:latin typeface="Calibri"/>
              </a:rPr>
              <a:t>(RGBA, requestId)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57116" y="1764792"/>
            <a:ext cx="201168" cy="146304"/>
          </a:xfrm>
          <a:prstGeom prst="rightArrow">
            <a:avLst/>
          </a:prstGeom>
          <a:solidFill>
            <a:srgbClr val="7E9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694676" y="1764792"/>
            <a:ext cx="201168" cy="146304"/>
          </a:xfrm>
          <a:prstGeom prst="rightArrow">
            <a:avLst/>
          </a:prstGeom>
          <a:solidFill>
            <a:srgbClr val="7E9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5903823" y="2249424"/>
            <a:ext cx="384048" cy="292608"/>
          </a:xfrm>
          <a:prstGeom prst="downArrow">
            <a:avLst/>
          </a:prstGeom>
          <a:solidFill>
            <a:srgbClr val="7E9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12848"/>
            <a:ext cx="4297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>
                <a:solidFill>
                  <a:srgbClr val="1E3A5F"/>
                </a:solidFill>
                <a:latin typeface="Consolas"/>
              </a:rPr>
              <a:t>postMessage(RGBA, requestId)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A6672"/>
                </a:solidFill>
                <a:latin typeface="Calibri"/>
              </a:rPr>
              <a:t>Transferable: rgbaArray.buffer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2578608"/>
            <a:ext cx="9902952" cy="1700784"/>
          </a:xfrm>
          <a:prstGeom prst="roundRect">
            <a:avLst/>
          </a:prstGeom>
          <a:solidFill>
            <a:srgbClr val="F4F4F4"/>
          </a:solidFill>
          <a:ln w="15875">
            <a:solidFill>
              <a:srgbClr val="5A6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4168" y="2624328"/>
            <a:ext cx="9500616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4C55"/>
                </a:solidFill>
                <a:latin typeface="Calibri"/>
              </a:rPr>
              <a:t>WEB WORKER · brisque.worker  →  BrisquePipeline.execute  (отдельный поток)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154680"/>
            <a:ext cx="1325880" cy="841248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154680"/>
            <a:ext cx="132588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Grayscale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Calibri"/>
              </a:rPr>
              <a:t>BT.601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752344" y="3502152"/>
            <a:ext cx="201168" cy="146304"/>
          </a:xfrm>
          <a:prstGeom prst="rightArrow">
            <a:avLst/>
          </a:prstGeom>
          <a:solidFill>
            <a:srgbClr val="7E9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08376" y="3154680"/>
            <a:ext cx="1325880" cy="841248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08376" y="3154680"/>
            <a:ext cx="132588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MSCN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Calibri"/>
              </a:rPr>
              <a:t>Scale 1 / 2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389120" y="3502152"/>
            <a:ext cx="201168" cy="146304"/>
          </a:xfrm>
          <a:prstGeom prst="rightArrow">
            <a:avLst/>
          </a:prstGeom>
          <a:solidFill>
            <a:srgbClr val="7E9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45152" y="3154680"/>
            <a:ext cx="1325880" cy="841248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3154680"/>
            <a:ext cx="132588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Pairwise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Calibri"/>
              </a:rPr>
              <a:t>H·V·D₁·D₂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025896" y="3502152"/>
            <a:ext cx="201168" cy="146304"/>
          </a:xfrm>
          <a:prstGeom prst="rightArrow">
            <a:avLst/>
          </a:prstGeom>
          <a:solidFill>
            <a:srgbClr val="7E9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81928" y="3154680"/>
            <a:ext cx="1325880" cy="841248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3154680"/>
            <a:ext cx="132588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Признаки ×36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Calibri"/>
              </a:rPr>
              <a:t>GGD / AGGD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662672" y="3502152"/>
            <a:ext cx="201168" cy="146304"/>
          </a:xfrm>
          <a:prstGeom prst="rightArrow">
            <a:avLst/>
          </a:prstGeom>
          <a:solidFill>
            <a:srgbClr val="7E9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18704" y="3154680"/>
            <a:ext cx="1325880" cy="841248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18704" y="3154680"/>
            <a:ext cx="132588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SVR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299448" y="3502152"/>
            <a:ext cx="201168" cy="146304"/>
          </a:xfrm>
          <a:prstGeom prst="rightArrow">
            <a:avLst/>
          </a:prstGeom>
          <a:solidFill>
            <a:srgbClr val="7E9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55480" y="3154680"/>
            <a:ext cx="1325880" cy="841248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3154680"/>
            <a:ext cx="132588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DMOS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Calibri"/>
              </a:rPr>
              <a:t>(score)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903823" y="4315968"/>
            <a:ext cx="384048" cy="292608"/>
          </a:xfrm>
          <a:prstGeom prst="downArrow">
            <a:avLst/>
          </a:prstGeom>
          <a:solidFill>
            <a:srgbClr val="7E9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4279392"/>
            <a:ext cx="4297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>
                <a:solidFill>
                  <a:srgbClr val="1E3A5F"/>
                </a:solidFill>
                <a:latin typeface="Consolas"/>
              </a:rPr>
              <a:t>ответ: BrisqueWorkerSuccess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A6672"/>
                </a:solidFill>
                <a:latin typeface="Calibri"/>
              </a:rPr>
              <a:t>Transferable: карты, признаки, score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" y="4645152"/>
            <a:ext cx="9902952" cy="1316736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44168" y="4690872"/>
            <a:ext cx="9500616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3A5F"/>
                </a:solidFill>
                <a:latin typeface="Calibri"/>
              </a:rPr>
              <a:t>ГЛАВНЫЙ ПОТОК · renderer (AppController)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" y="4974336"/>
            <a:ext cx="9445752" cy="420624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4974336"/>
            <a:ext cx="9445752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onsolas"/>
              </a:rPr>
              <a:t>parseWorkerMessage  →  AnalysisResult  (score + payload)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71600" y="5468112"/>
            <a:ext cx="42062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5468112"/>
            <a:ext cx="420624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E3A5F"/>
                </a:solidFill>
                <a:latin typeface="Consolas"/>
              </a:rPr>
              <a:t>ScorePresenter  →  score в шапке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52160" y="5468112"/>
            <a:ext cx="4965192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0" y="5468112"/>
            <a:ext cx="4965192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E3A5F"/>
                </a:solidFill>
                <a:latin typeface="Consolas"/>
              </a:rPr>
              <a:t>TabHost.dispatchResult  →  «Карты» · «Графики» · «Признаки»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A6672"/>
                </a:solidFill>
                <a:latin typeface="Calibri"/>
              </a:rPr>
              <a:t>Кунашев А. С.  ·  ИВТ-41БО  ·  Визуализация алгоритмов оценки качества изображений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AEC8E0"/>
                </a:solidFill>
                <a:latin typeface="Calibri"/>
              </a:rPr>
              <a:t>АЛГОРИТМ (1/2)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Calibri"/>
              </a:rPr>
              <a:t>BRISQUE: этапы расчёта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371600" cy="11887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1371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Яркость
(BT.601)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13382" y="2633472"/>
            <a:ext cx="181356" cy="219456"/>
          </a:xfrm>
          <a:prstGeom prst="rightArrow">
            <a:avLst/>
          </a:prstGeom>
          <a:solidFill>
            <a:srgbClr val="9AB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33600" y="2148840"/>
            <a:ext cx="1371600" cy="11887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148840"/>
            <a:ext cx="1371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MSCN
(μ, σ, σ̂)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44062" y="2633472"/>
            <a:ext cx="181356" cy="219456"/>
          </a:xfrm>
          <a:prstGeom prst="rightArrow">
            <a:avLst/>
          </a:prstGeom>
          <a:solidFill>
            <a:srgbClr val="9AB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64280" y="2148840"/>
            <a:ext cx="1371600" cy="11887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4280" y="2148840"/>
            <a:ext cx="1371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Pairwise
H, V, D₁, D₂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74742" y="2633472"/>
            <a:ext cx="181356" cy="219456"/>
          </a:xfrm>
          <a:prstGeom prst="rightArrow">
            <a:avLst/>
          </a:prstGeom>
          <a:solidFill>
            <a:srgbClr val="9AB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4960" y="2148840"/>
            <a:ext cx="1371600" cy="11887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148840"/>
            <a:ext cx="1371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GGD / AGGD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805422" y="2633472"/>
            <a:ext cx="181356" cy="219456"/>
          </a:xfrm>
          <a:prstGeom prst="rightArrow">
            <a:avLst/>
          </a:prstGeom>
          <a:solidFill>
            <a:srgbClr val="9AB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25640" y="2148840"/>
            <a:ext cx="1371600" cy="11887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5640" y="2148840"/>
            <a:ext cx="1371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36 признаков
(2 масштаба)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436102" y="2633472"/>
            <a:ext cx="181356" cy="219456"/>
          </a:xfrm>
          <a:prstGeom prst="rightArrow">
            <a:avLst/>
          </a:prstGeom>
          <a:solidFill>
            <a:srgbClr val="9AB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56320" y="2148840"/>
            <a:ext cx="1371600" cy="11887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6320" y="2148840"/>
            <a:ext cx="1371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SVR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066782" y="2633472"/>
            <a:ext cx="181356" cy="219456"/>
          </a:xfrm>
          <a:prstGeom prst="rightArrow">
            <a:avLst/>
          </a:prstGeom>
          <a:solidFill>
            <a:srgbClr val="9AB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87000" y="2148840"/>
            <a:ext cx="1371600" cy="11887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148840"/>
            <a:ext cx="13716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06240"/>
            <a:ext cx="3611880" cy="1097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206240"/>
            <a:ext cx="73152" cy="10972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70832"/>
            <a:ext cx="3154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222A33"/>
                </a:solidFill>
                <a:latin typeface="Calibri"/>
              </a:rPr>
              <a:t>Карты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5A6672"/>
                </a:solidFill>
                <a:latin typeface="Calibri"/>
              </a:rPr>
              <a:t>вкладка «Карты»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206240"/>
            <a:ext cx="3611880" cy="1097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4206240"/>
            <a:ext cx="73152" cy="10972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370832"/>
            <a:ext cx="3154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222A33"/>
                </a:solidFill>
                <a:latin typeface="Calibri"/>
              </a:rPr>
              <a:t>Гистограммы + кривые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5A6672"/>
                </a:solidFill>
                <a:latin typeface="Calibri"/>
              </a:rPr>
              <a:t>вкладка «Графики»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4206240"/>
            <a:ext cx="3611880" cy="1097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4206240"/>
            <a:ext cx="73152" cy="10972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370832"/>
            <a:ext cx="3154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222A33"/>
                </a:solidFill>
                <a:latin typeface="Calibri"/>
              </a:rPr>
              <a:t>Таблица σ, ν², 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5A6672"/>
                </a:solidFill>
                <a:latin typeface="Calibri"/>
              </a:rPr>
              <a:t>вкладка «Признаки»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A6672"/>
                </a:solidFill>
                <a:latin typeface="Calibri"/>
              </a:rPr>
              <a:t>Кунашев А. С.  ·  ИВТ-41БО  ·  Визуализация алгоритмов оценки качества изображений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AEC8E0"/>
                </a:solidFill>
                <a:latin typeface="Calibri"/>
              </a:rPr>
              <a:t>АЛГОРИТМ (2/2)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Calibri"/>
              </a:rPr>
              <a:t>BRISQUE: математическая 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6276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91440" cy="16276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E3A5F"/>
                </a:solidFill>
                <a:latin typeface="Calibri"/>
              </a:rPr>
              <a:t>1. Нормализация локального контраста (MSCN)</a:t>
            </a:r>
          </a:p>
        </p:txBody>
      </p:sp>
      <p:pic>
        <p:nvPicPr>
          <p:cNvPr id="9" name="Picture 8" descr="ms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60804"/>
            <a:ext cx="2651760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596896"/>
            <a:ext cx="1060704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5A6672"/>
                </a:solidFill>
                <a:latin typeface="Calibri"/>
              </a:rPr>
              <a:t>μ, σ — локальные среднее и СКО по гауссову окну 7×7;   C = 1 — стабилизация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35808"/>
            <a:ext cx="11155680" cy="16276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35808"/>
            <a:ext cx="91440" cy="16276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27248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E3A5F"/>
                </a:solidFill>
                <a:latin typeface="Calibri"/>
              </a:rPr>
              <a:t>2. Аппроксимация гистограммы MSCN — GGD</a:t>
            </a:r>
          </a:p>
        </p:txBody>
      </p:sp>
      <p:pic>
        <p:nvPicPr>
          <p:cNvPr id="14" name="Picture 13" descr="g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880" y="3598164"/>
            <a:ext cx="4307760" cy="566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334256"/>
            <a:ext cx="1060704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5A6672"/>
                </a:solidFill>
                <a:latin typeface="Calibri"/>
              </a:rPr>
              <a:t>β = σ√(Γ(1/α)/Γ(3/α));   признаки (α, σ²)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73168"/>
            <a:ext cx="11155680" cy="16276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773168"/>
            <a:ext cx="91440" cy="16276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64608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E3A5F"/>
                </a:solidFill>
                <a:latin typeface="Calibri"/>
              </a:rPr>
              <a:t>3. Попарные произведения H, V, D₁, D₂ — AGGD</a:t>
            </a:r>
          </a:p>
        </p:txBody>
      </p:sp>
      <p:pic>
        <p:nvPicPr>
          <p:cNvPr id="19" name="Picture 18" descr="agg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409" y="5335524"/>
            <a:ext cx="3970701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6071616"/>
            <a:ext cx="1060704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5A6672"/>
                </a:solidFill>
                <a:latin typeface="Calibri"/>
              </a:rPr>
              <a:t>вектор (α, η, σₗ², σᵣ²) → 18 признаков × 2 масштаба = 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A6672"/>
                </a:solidFill>
                <a:latin typeface="Calibri"/>
              </a:rPr>
              <a:t>Кунашев А. С.  ·  ИВТ-41БО  ·  Визуализация алгоритмов оценки качества изображений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AEC8E0"/>
                </a:solidFill>
                <a:latin typeface="Calibri"/>
              </a:rPr>
              <a:t>РЕЗУЛЬТАТЫ (1/2)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Calibri"/>
              </a:rPr>
              <a:t>Демонстрация: вкладки в действии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25401" y="1828799"/>
            <a:ext cx="3913631" cy="262667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z-map-ms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21" y="1874519"/>
            <a:ext cx="3822191" cy="25352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1121" y="4482902"/>
            <a:ext cx="3822191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E3A5F"/>
                </a:solidFill>
                <a:latin typeface="Calibri"/>
              </a:rPr>
              <a:t>Карта MSCN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9032" y="1828799"/>
            <a:ext cx="3913631" cy="262667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iz-chart-ms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752" y="1874519"/>
            <a:ext cx="3822191" cy="25352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84752" y="4482902"/>
            <a:ext cx="3822191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E3A5F"/>
                </a:solidFill>
                <a:latin typeface="Calibri"/>
              </a:rPr>
              <a:t>Гистограмма + кривая GGD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2663" y="1828799"/>
            <a:ext cx="3913631" cy="262667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iz-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383" y="1874519"/>
            <a:ext cx="3822191" cy="25352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8383" y="4482902"/>
            <a:ext cx="3822191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E3A5F"/>
                </a:solidFill>
                <a:latin typeface="Calibri"/>
              </a:rPr>
              <a:t>Таблица 36 признаков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A6672"/>
                </a:solidFill>
                <a:latin typeface="Calibri"/>
              </a:rPr>
              <a:t>Кунашев А. С.  ·  ИВТ-41БО  ·  Визуализация алгоритмов оценки качества изображений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AEC8E0"/>
                </a:solidFill>
                <a:latin typeface="Calibri"/>
              </a:rPr>
              <a:t>РЕЗУЛЬТАТЫ (2/2)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Calibri"/>
              </a:rPr>
              <a:t>Тестирование: серия из 25 снимков vs MATLAB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3611880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85216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lta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852160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901184"/>
            <a:ext cx="585216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A6672"/>
                </a:solidFill>
                <a:latin typeface="Calibri"/>
              </a:rPr>
              <a:t>Абсолютное расхождение |Δ| с MATLAB по 25 полным кадрам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325880"/>
            <a:ext cx="5166360" cy="60350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325880"/>
            <a:ext cx="73152" cy="60350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325880"/>
            <a:ext cx="1874519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1E3A5F"/>
                </a:solidFill>
                <a:latin typeface="Calibri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3258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222A33"/>
                </a:solidFill>
                <a:latin typeface="Calibri"/>
              </a:rPr>
              <a:t>тестовых снимков · полный кадр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2039112"/>
            <a:ext cx="5166360" cy="60350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2039112"/>
            <a:ext cx="73152" cy="60350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39112"/>
            <a:ext cx="1874519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1E3A5F"/>
                </a:solidFill>
                <a:latin typeface="Calibri"/>
              </a:rPr>
              <a:t>2.51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039112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222A33"/>
                </a:solidFill>
                <a:latin typeface="Calibri"/>
              </a:rPr>
              <a:t>среднее |Δ| (балла)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752344"/>
            <a:ext cx="5166360" cy="60350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2752344"/>
            <a:ext cx="73152" cy="60350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2752344"/>
            <a:ext cx="1874519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E3A5F"/>
                </a:solidFill>
                <a:latin typeface="Calibri"/>
              </a:rPr>
              <a:t>0.85–4.42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752344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222A33"/>
                </a:solidFill>
                <a:latin typeface="Calibri"/>
              </a:rPr>
              <a:t>диапазон |Δ|: мин I20, макс I17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1384" y="3483864"/>
            <a:ext cx="2450592" cy="185623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est-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520440"/>
            <a:ext cx="2377440" cy="1783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37960" y="5340096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E3A5F"/>
                </a:solidFill>
                <a:latin typeface="Calibri"/>
              </a:rPr>
              <a:t>I14 — качественный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A6672"/>
                </a:solidFill>
                <a:latin typeface="Calibri"/>
              </a:rPr>
              <a:t>9.09 vs 12.33  (|Δ| 3.24)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07424" y="3483864"/>
            <a:ext cx="2450592" cy="185623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test-b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520440"/>
            <a:ext cx="2377440" cy="1783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0" y="5340096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E3A5F"/>
                </a:solidFill>
                <a:latin typeface="Calibri"/>
              </a:rPr>
              <a:t>I20 — искажённый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A6672"/>
                </a:solidFill>
                <a:latin typeface="Calibri"/>
              </a:rPr>
              <a:t>92.08 vs 89.35  (|Δ| 2.73)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650992"/>
            <a:ext cx="1081735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E3A5F"/>
                </a:solidFill>
                <a:latin typeface="Calibri"/>
              </a:rPr>
              <a:t>Ранжирование верное: I20 (92.08) ≫ I14 (9.09).  По 25 кадрам среднее |Δ| = 2.51 — корректность вычислительного ядра подтверждена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A6672"/>
                </a:solidFill>
                <a:latin typeface="Calibri"/>
              </a:rPr>
              <a:t>Кунашев А. С.  ·  ИВТ-41БО  ·  Визуализация алгоритмов оценки качества изображений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i="0">
                <a:solidFill>
                  <a:srgbClr val="AEC8E0"/>
                </a:solidFill>
                <a:latin typeface="Calibri"/>
              </a:rPr>
              <a:t>ИТОГИ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FFFFF"/>
                </a:solidFill>
                <a:latin typeface="Calibri"/>
              </a:rPr>
              <a:t>Результаты и перспективы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83080"/>
            <a:ext cx="2377440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—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Цель достигнута: инструмент для пошаговой визуализации IQA на выбранном ROI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—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Модульная архитектура — задел на NIQE, PIQE и другие метрики без переработки оболочки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—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Перспективы: пакетная обработка, расширенный экспорт результатов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CFDDEC"/>
                </a:solidFill>
                <a:latin typeface="Calibri"/>
              </a:rPr>
              <a:t>Готов ответить на ваши вопросы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AEC8E0"/>
                </a:solidFill>
                <a:latin typeface="Calibri"/>
              </a:rPr>
              <a:t>ИСТОЧНИКИ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Calibri"/>
              </a:rPr>
              <a:t>Список литературы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AEC8E0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394960" cy="4846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0" i="0">
                <a:solidFill>
                  <a:srgbClr val="222A33"/>
                </a:solidFill>
                <a:latin typeface="Calibri"/>
              </a:rPr>
              <a:t>1.  Zhai G., Min X. Perceptual image quality assessment: a survey. Science China, 2020.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0" i="0">
                <a:solidFill>
                  <a:srgbClr val="222A33"/>
                </a:solidFill>
                <a:latin typeface="Calibri"/>
              </a:rPr>
              <a:t>2.  Mittal A., Moorthy A. K., Bovik A. C. No-Reference IQA in the Spatial Domain (BRISQUE). IEEE TIP, 2012.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0" i="0">
                <a:solidFill>
                  <a:srgbClr val="222A33"/>
                </a:solidFill>
                <a:latin typeface="Calibri"/>
              </a:rPr>
              <a:t>3.  Sheikh H. R. et al. A Statistical Evaluation of Recent FR IQA Algorithms (LIVE). IEEE TIP, 2006.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0" i="0">
                <a:solidFill>
                  <a:srgbClr val="222A33"/>
                </a:solidFill>
                <a:latin typeface="Calibri"/>
              </a:rPr>
              <a:t>4.  Saad M. A., Bovik A. C., Charrier C. Blind IQA: NSS Approach in the DCT Domain. IEEE TIP, 2012.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0" i="0">
                <a:solidFill>
                  <a:srgbClr val="222A33"/>
                </a:solidFill>
                <a:latin typeface="Calibri"/>
              </a:rPr>
              <a:t>5.  Рекомендация ITU-R BT.601-6. Studio encoding parameters of digital television.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0" i="0">
                <a:solidFill>
                  <a:srgbClr val="222A33"/>
                </a:solidFill>
                <a:latin typeface="Calibri"/>
              </a:rPr>
              <a:t>6.  Srivastava A. et al. On Advances in Statistical Modeling of Natural Images. JMIV, 2003.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394960" cy="4846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0" i="0">
                <a:solidFill>
                  <a:srgbClr val="222A33"/>
                </a:solidFill>
                <a:latin typeface="Calibri"/>
              </a:rPr>
              <a:t>7.  Ruderman D. L. The statistics of natural images. Network: Comp. in Neural Systems, 1994.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0" i="0">
                <a:solidFill>
                  <a:srgbClr val="222A33"/>
                </a:solidFill>
                <a:latin typeface="Calibri"/>
              </a:rPr>
              <a:t>8.  Sharifi K., Leon-Garcia A. Estimation of Shape Parameter for GGD. IEEE TCSVT, 1995.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0" i="0">
                <a:solidFill>
                  <a:srgbClr val="222A33"/>
                </a:solidFill>
                <a:latin typeface="Calibri"/>
              </a:rPr>
              <a:t>9.  Keys R. Cubic Convolution Interpolation for Digital Image Processing. IEEE TASSP, 1981.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0" i="0">
                <a:solidFill>
                  <a:srgbClr val="222A33"/>
                </a:solidFill>
                <a:latin typeface="Calibri"/>
              </a:rPr>
              <a:t>10.  Chang C.-C., Lin C.-J. LIBSVM: A Library for Support Vector Machines. ACM TIST, 2011.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0" i="0">
                <a:solidFill>
                  <a:srgbClr val="222A33"/>
                </a:solidFill>
                <a:latin typeface="Calibri"/>
              </a:rPr>
              <a:t>11.  Electron Documentation; WHATWG HTML Living Standard — Web Workers, Canvas.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0" i="0">
                <a:solidFill>
                  <a:srgbClr val="222A33"/>
                </a:solidFill>
                <a:latin typeface="Calibri"/>
              </a:rPr>
              <a:t>12.  TypeScript Handbook; MathWorks Documentation — imresize.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5A6672"/>
                </a:solidFill>
                <a:latin typeface="Calibri"/>
              </a:rPr>
              <a:t>Кунашев А. С.  ·  ИВТ-41БО  ·  Визуализация алгоритмов оценки качества изображений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